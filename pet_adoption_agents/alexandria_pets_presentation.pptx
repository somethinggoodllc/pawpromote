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hyperlink" Target="https://generated-video.example.com/pepper_video.mp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hyperlink" Target="https://generated-video.example.com/winnie_video.mp4"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hyperlink" Target="https://generated-video.example.com/zebra_video.mp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hyperlink" Target="https://generated-video.example.com/rebekah_video.mp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hyperlink" Target="https://generated-video.example.com/crouton *adoption pending*_video.mp4"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Pet Adoption Stories</a:t>
            </a:r>
          </a:p>
        </p:txBody>
      </p:sp>
      <p:sp>
        <p:nvSpPr>
          <p:cNvPr id="3" name="Subtitle 2"/>
          <p:cNvSpPr>
            <a:spLocks noGrp="1"/>
          </p:cNvSpPr>
          <p:nvPr>
            <p:ph type="subTitle" idx="1"/>
          </p:nvPr>
        </p:nvSpPr>
        <p:spPr/>
        <p:txBody>
          <a:bodyPr/>
          <a:lstStyle/>
          <a:p>
            <a:r>
              <a:t>Real Pets from Alexandria, VA Looking for Forever Homes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Pepper's Story</a:t>
            </a:r>
          </a:p>
        </p:txBody>
      </p:sp>
      <p:sp>
        <p:nvSpPr>
          <p:cNvPr id="3" name="Content Placeholder 2"/>
          <p:cNvSpPr>
            <a:spLocks noGrp="1"/>
          </p:cNvSpPr>
          <p:nvPr>
            <p:ph idx="1"/>
          </p:nvPr>
        </p:nvSpPr>
        <p:spPr/>
        <p:txBody>
          <a:bodyPr/>
          <a:lstStyle/>
          <a:p>
            <a:r>
              <a:t>Meet Pepper, the mysterious black cat detective who has appointed herself as the neighborhood's Chief Security Officer. Her daily routine includes conducting thorough investigations of suspicious paper bags, interrogating dust bunnies, and filing detailed reports (by knocking things off tables). Pepper's greatest case was 'The Mystery of the Disappearing Treats,' which she solved by catching the dog red-pawed. She's seeking a family who appreciates her investigative skills and doesn't mind her habit of leaving 'evidence' (toy mice) in shoes as case files.</a:t>
            </a:r>
          </a:p>
        </p:txBody>
      </p:sp>
      <p:pic>
        <p:nvPicPr>
          <p:cNvPr id="4" name="Picture 3" descr="tmpgn61obk9.jpg"/>
          <p:cNvPicPr>
            <a:picLocks noChangeAspect="1"/>
          </p:cNvPicPr>
          <p:nvPr/>
        </p:nvPicPr>
        <p:blipFill>
          <a:blip r:embed="rId2"/>
          <a:stretch>
            <a:fillRect/>
          </a:stretch>
        </p:blipFill>
        <p:spPr>
          <a:xfrm>
            <a:off x="914400" y="1828800"/>
            <a:ext cx="2286000" cy="3049211"/>
          </a:xfrm>
          <a:prstGeom prst="rect">
            <a:avLst/>
          </a:prstGeom>
        </p:spPr>
      </p:pic>
      <p:sp>
        <p:nvSpPr>
          <p:cNvPr id="5" name="TextBox 4"/>
          <p:cNvSpPr txBox="1"/>
          <p:nvPr/>
        </p:nvSpPr>
        <p:spPr>
          <a:xfrm>
            <a:off x="3657600" y="1828800"/>
            <a:ext cx="2286000" cy="914400"/>
          </a:xfrm>
          <a:prstGeom prst="rect">
            <a:avLst/>
          </a:prstGeom>
          <a:noFill/>
        </p:spPr>
        <p:txBody>
          <a:bodyPr wrap="none">
            <a:spAutoFit/>
          </a:bodyPr>
          <a:lstStyle/>
          <a:p/>
          <a:p>
            <a:r>
              <a:t>Story Illustration</a:t>
            </a:r>
            <a:br/>
            <a:r>
              <a:t>(GPT-Image-1)</a:t>
            </a:r>
          </a:p>
        </p:txBody>
      </p:sp>
      <p:sp>
        <p:nvSpPr>
          <p:cNvPr id="6" name="TextBox 5"/>
          <p:cNvSpPr txBox="1"/>
          <p:nvPr/>
        </p:nvSpPr>
        <p:spPr>
          <a:xfrm>
            <a:off x="6400800" y="1828800"/>
            <a:ext cx="1371600" cy="914400"/>
          </a:xfrm>
          <a:prstGeom prst="rect">
            <a:avLst/>
          </a:prstGeom>
          <a:noFill/>
        </p:spPr>
        <p:txBody>
          <a:bodyPr wrap="none">
            <a:spAutoFit/>
          </a:bodyPr>
          <a:lstStyle/>
          <a:p/>
          <a:p>
            <a:r>
              <a:t>Badge</a:t>
            </a:r>
            <a:br/>
            <a:r>
              <a:t>(Generated)</a:t>
            </a:r>
          </a:p>
        </p:txBody>
      </p:sp>
      <p:sp>
        <p:nvSpPr>
          <p:cNvPr id="7" name="TextBox 6"/>
          <p:cNvSpPr txBox="1"/>
          <p:nvPr/>
        </p:nvSpPr>
        <p:spPr>
          <a:xfrm>
            <a:off x="914400" y="5029200"/>
            <a:ext cx="7315200" cy="914400"/>
          </a:xfrm>
          <a:prstGeom prst="rect">
            <a:avLst/>
          </a:prstGeom>
          <a:noFill/>
        </p:spPr>
        <p:txBody>
          <a:bodyPr wrap="none">
            <a:spAutoFit/>
          </a:bodyPr>
          <a:lstStyle/>
          <a:p/>
          <a:p>
            <a:r>
              <a:rPr>
                <a:hlinkClick r:id="rId3"/>
              </a:rPr>
              <a:t>Watch Pepper's video: https://generated-video.example.com/pepper_video.mp4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Winnie's Story</a:t>
            </a:r>
          </a:p>
        </p:txBody>
      </p:sp>
      <p:sp>
        <p:nvSpPr>
          <p:cNvPr id="3" name="Content Placeholder 2"/>
          <p:cNvSpPr>
            <a:spLocks noGrp="1"/>
          </p:cNvSpPr>
          <p:nvPr>
            <p:ph idx="1"/>
          </p:nvPr>
        </p:nvSpPr>
        <p:spPr/>
        <p:txBody>
          <a:bodyPr/>
          <a:lstStyle/>
          <a:p>
            <a:r>
              <a:t>Winnie, the distinguished Russian Blue, has established herself as Alexandria's most refined feline socialite. At her age, she's mastered the art of dignified living and hosts daily 'Whisker &amp; Wisdom' sessions where she shares life advice with younger cats. Her philosophy: 'Naps are not optional, they're essential.' Winnie is looking for a retirement home where she can continue her legacy as the neighborhood's most elegant philosopher, preferably with a sunny windowsill and premium catnip service.</a:t>
            </a:r>
          </a:p>
        </p:txBody>
      </p:sp>
      <p:pic>
        <p:nvPicPr>
          <p:cNvPr id="4" name="Picture 3" descr="tmpopggw6gu.jpg"/>
          <p:cNvPicPr>
            <a:picLocks noChangeAspect="1"/>
          </p:cNvPicPr>
          <p:nvPr/>
        </p:nvPicPr>
        <p:blipFill>
          <a:blip r:embed="rId2"/>
          <a:stretch>
            <a:fillRect/>
          </a:stretch>
        </p:blipFill>
        <p:spPr>
          <a:xfrm>
            <a:off x="914400" y="1828800"/>
            <a:ext cx="2286000" cy="3048000"/>
          </a:xfrm>
          <a:prstGeom prst="rect">
            <a:avLst/>
          </a:prstGeom>
        </p:spPr>
      </p:pic>
      <p:sp>
        <p:nvSpPr>
          <p:cNvPr id="5" name="TextBox 4"/>
          <p:cNvSpPr txBox="1"/>
          <p:nvPr/>
        </p:nvSpPr>
        <p:spPr>
          <a:xfrm>
            <a:off x="3657600" y="1828800"/>
            <a:ext cx="2286000" cy="914400"/>
          </a:xfrm>
          <a:prstGeom prst="rect">
            <a:avLst/>
          </a:prstGeom>
          <a:noFill/>
        </p:spPr>
        <p:txBody>
          <a:bodyPr wrap="none">
            <a:spAutoFit/>
          </a:bodyPr>
          <a:lstStyle/>
          <a:p/>
          <a:p>
            <a:r>
              <a:t>Story Illustration</a:t>
            </a:r>
            <a:br/>
            <a:r>
              <a:t>(GPT-Image-1)</a:t>
            </a:r>
          </a:p>
        </p:txBody>
      </p:sp>
      <p:sp>
        <p:nvSpPr>
          <p:cNvPr id="6" name="TextBox 5"/>
          <p:cNvSpPr txBox="1"/>
          <p:nvPr/>
        </p:nvSpPr>
        <p:spPr>
          <a:xfrm>
            <a:off x="6400800" y="1828800"/>
            <a:ext cx="1371600" cy="914400"/>
          </a:xfrm>
          <a:prstGeom prst="rect">
            <a:avLst/>
          </a:prstGeom>
          <a:noFill/>
        </p:spPr>
        <p:txBody>
          <a:bodyPr wrap="none">
            <a:spAutoFit/>
          </a:bodyPr>
          <a:lstStyle/>
          <a:p/>
          <a:p>
            <a:r>
              <a:t>Badge</a:t>
            </a:r>
            <a:br/>
            <a:r>
              <a:t>(Generated)</a:t>
            </a:r>
          </a:p>
        </p:txBody>
      </p:sp>
      <p:sp>
        <p:nvSpPr>
          <p:cNvPr id="7" name="TextBox 6"/>
          <p:cNvSpPr txBox="1"/>
          <p:nvPr/>
        </p:nvSpPr>
        <p:spPr>
          <a:xfrm>
            <a:off x="914400" y="5029200"/>
            <a:ext cx="7315200" cy="914400"/>
          </a:xfrm>
          <a:prstGeom prst="rect">
            <a:avLst/>
          </a:prstGeom>
          <a:noFill/>
        </p:spPr>
        <p:txBody>
          <a:bodyPr wrap="none">
            <a:spAutoFit/>
          </a:bodyPr>
          <a:lstStyle/>
          <a:p/>
          <a:p>
            <a:r>
              <a:rPr>
                <a:hlinkClick r:id="rId3"/>
              </a:rPr>
              <a:t>Watch Winnie's video: https://generated-video.example.com/winnie_video.mp4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Zebra's Story</a:t>
            </a:r>
          </a:p>
        </p:txBody>
      </p:sp>
      <p:sp>
        <p:nvSpPr>
          <p:cNvPr id="3" name="Content Placeholder 2"/>
          <p:cNvSpPr>
            <a:spLocks noGrp="1"/>
          </p:cNvSpPr>
          <p:nvPr>
            <p:ph idx="1"/>
          </p:nvPr>
        </p:nvSpPr>
        <p:spPr/>
        <p:txBody>
          <a:bodyPr/>
          <a:lstStyle/>
          <a:p>
            <a:r>
              <a:t>Zebra, the tuxedo cat with a name that confuses everyone, has decided to embrace his identity crisis by becoming the shelter's official Welcome Committee of One. He greets every visitor with enthusiastic head bumps and purr-negotiations, convinced he's actually a dog trapped in a cat's body. His daily schedule includes: morning tail-wagging practice, afternoon visitor greeting, and evening 'How to Be More Dog' workshops for confused cats. He's seeking a family who won't mind his existential crisis and will love his over-the-top personality.</a:t>
            </a:r>
          </a:p>
        </p:txBody>
      </p:sp>
      <p:pic>
        <p:nvPicPr>
          <p:cNvPr id="4" name="Picture 3" descr="tmpzg_76ylp.jpg"/>
          <p:cNvPicPr>
            <a:picLocks noChangeAspect="1"/>
          </p:cNvPicPr>
          <p:nvPr/>
        </p:nvPicPr>
        <p:blipFill>
          <a:blip r:embed="rId2"/>
          <a:stretch>
            <a:fillRect/>
          </a:stretch>
        </p:blipFill>
        <p:spPr>
          <a:xfrm>
            <a:off x="914400" y="1828800"/>
            <a:ext cx="2286000" cy="3048000"/>
          </a:xfrm>
          <a:prstGeom prst="rect">
            <a:avLst/>
          </a:prstGeom>
        </p:spPr>
      </p:pic>
      <p:sp>
        <p:nvSpPr>
          <p:cNvPr id="5" name="TextBox 4"/>
          <p:cNvSpPr txBox="1"/>
          <p:nvPr/>
        </p:nvSpPr>
        <p:spPr>
          <a:xfrm>
            <a:off x="3657600" y="1828800"/>
            <a:ext cx="2286000" cy="914400"/>
          </a:xfrm>
          <a:prstGeom prst="rect">
            <a:avLst/>
          </a:prstGeom>
          <a:noFill/>
        </p:spPr>
        <p:txBody>
          <a:bodyPr wrap="none">
            <a:spAutoFit/>
          </a:bodyPr>
          <a:lstStyle/>
          <a:p/>
          <a:p>
            <a:r>
              <a:t>Story Illustration</a:t>
            </a:r>
            <a:br/>
            <a:r>
              <a:t>(GPT-Image-1)</a:t>
            </a:r>
          </a:p>
        </p:txBody>
      </p:sp>
      <p:sp>
        <p:nvSpPr>
          <p:cNvPr id="6" name="TextBox 5"/>
          <p:cNvSpPr txBox="1"/>
          <p:nvPr/>
        </p:nvSpPr>
        <p:spPr>
          <a:xfrm>
            <a:off x="6400800" y="1828800"/>
            <a:ext cx="1371600" cy="914400"/>
          </a:xfrm>
          <a:prstGeom prst="rect">
            <a:avLst/>
          </a:prstGeom>
          <a:noFill/>
        </p:spPr>
        <p:txBody>
          <a:bodyPr wrap="none">
            <a:spAutoFit/>
          </a:bodyPr>
          <a:lstStyle/>
          <a:p/>
          <a:p>
            <a:r>
              <a:t>Badge</a:t>
            </a:r>
            <a:br/>
            <a:r>
              <a:t>(Generated)</a:t>
            </a:r>
          </a:p>
        </p:txBody>
      </p:sp>
      <p:sp>
        <p:nvSpPr>
          <p:cNvPr id="7" name="TextBox 6"/>
          <p:cNvSpPr txBox="1"/>
          <p:nvPr/>
        </p:nvSpPr>
        <p:spPr>
          <a:xfrm>
            <a:off x="914400" y="5029200"/>
            <a:ext cx="7315200" cy="914400"/>
          </a:xfrm>
          <a:prstGeom prst="rect">
            <a:avLst/>
          </a:prstGeom>
          <a:noFill/>
        </p:spPr>
        <p:txBody>
          <a:bodyPr wrap="none">
            <a:spAutoFit/>
          </a:bodyPr>
          <a:lstStyle/>
          <a:p/>
          <a:p>
            <a:r>
              <a:rPr>
                <a:hlinkClick r:id="rId3"/>
              </a:rPr>
              <a:t>Watch Zebra's video: https://generated-video.example.com/zebra_video.mp4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Rebekah's Story</a:t>
            </a:r>
          </a:p>
        </p:txBody>
      </p:sp>
      <p:sp>
        <p:nvSpPr>
          <p:cNvPr id="3" name="Content Placeholder 2"/>
          <p:cNvSpPr>
            <a:spLocks noGrp="1"/>
          </p:cNvSpPr>
          <p:nvPr>
            <p:ph idx="1"/>
          </p:nvPr>
        </p:nvSpPr>
        <p:spPr/>
        <p:txBody>
          <a:bodyPr/>
          <a:lstStyle/>
          <a:p>
            <a:r>
              <a:t>Rebekah, the German Shepherd mix, has appointed herself as Alexandria's Chief Happiness Officer and Professional Tail-Wagger. She takes her job seriously, conducting daily joy inspections throughout the neighborhood and organizing impromptu play sessions for anyone who looks remotely sad. Her resume includes: Expert Treat Tester, Certified Good Girl, and Advanced Belly Rub Recipient. She's looking for a family who needs a professional happiness consultant and doesn't mind her over-enthusiasm for making everyone's day better.</a:t>
            </a:r>
          </a:p>
        </p:txBody>
      </p:sp>
      <p:pic>
        <p:nvPicPr>
          <p:cNvPr id="4" name="Picture 3" descr="tmpgf0ml11n.jpg"/>
          <p:cNvPicPr>
            <a:picLocks noChangeAspect="1"/>
          </p:cNvPicPr>
          <p:nvPr/>
        </p:nvPicPr>
        <p:blipFill>
          <a:blip r:embed="rId2"/>
          <a:stretch>
            <a:fillRect/>
          </a:stretch>
        </p:blipFill>
        <p:spPr>
          <a:xfrm>
            <a:off x="914400" y="1828800"/>
            <a:ext cx="2286000" cy="2286000"/>
          </a:xfrm>
          <a:prstGeom prst="rect">
            <a:avLst/>
          </a:prstGeom>
        </p:spPr>
      </p:pic>
      <p:sp>
        <p:nvSpPr>
          <p:cNvPr id="5" name="TextBox 4"/>
          <p:cNvSpPr txBox="1"/>
          <p:nvPr/>
        </p:nvSpPr>
        <p:spPr>
          <a:xfrm>
            <a:off x="3657600" y="1828800"/>
            <a:ext cx="2286000" cy="914400"/>
          </a:xfrm>
          <a:prstGeom prst="rect">
            <a:avLst/>
          </a:prstGeom>
          <a:noFill/>
        </p:spPr>
        <p:txBody>
          <a:bodyPr wrap="none">
            <a:spAutoFit/>
          </a:bodyPr>
          <a:lstStyle/>
          <a:p/>
          <a:p>
            <a:r>
              <a:t>Story Illustration</a:t>
            </a:r>
            <a:br/>
            <a:r>
              <a:t>(GPT-Image-1)</a:t>
            </a:r>
          </a:p>
        </p:txBody>
      </p:sp>
      <p:sp>
        <p:nvSpPr>
          <p:cNvPr id="6" name="TextBox 5"/>
          <p:cNvSpPr txBox="1"/>
          <p:nvPr/>
        </p:nvSpPr>
        <p:spPr>
          <a:xfrm>
            <a:off x="6400800" y="1828800"/>
            <a:ext cx="1371600" cy="914400"/>
          </a:xfrm>
          <a:prstGeom prst="rect">
            <a:avLst/>
          </a:prstGeom>
          <a:noFill/>
        </p:spPr>
        <p:txBody>
          <a:bodyPr wrap="none">
            <a:spAutoFit/>
          </a:bodyPr>
          <a:lstStyle/>
          <a:p/>
          <a:p>
            <a:r>
              <a:t>Badge</a:t>
            </a:r>
            <a:br/>
            <a:r>
              <a:t>(Generated)</a:t>
            </a:r>
          </a:p>
        </p:txBody>
      </p:sp>
      <p:sp>
        <p:nvSpPr>
          <p:cNvPr id="7" name="TextBox 6"/>
          <p:cNvSpPr txBox="1"/>
          <p:nvPr/>
        </p:nvSpPr>
        <p:spPr>
          <a:xfrm>
            <a:off x="914400" y="5029200"/>
            <a:ext cx="7315200" cy="914400"/>
          </a:xfrm>
          <a:prstGeom prst="rect">
            <a:avLst/>
          </a:prstGeom>
          <a:noFill/>
        </p:spPr>
        <p:txBody>
          <a:bodyPr wrap="none">
            <a:spAutoFit/>
          </a:bodyPr>
          <a:lstStyle/>
          <a:p/>
          <a:p>
            <a:r>
              <a:rPr>
                <a:hlinkClick r:id="rId3"/>
              </a:rPr>
              <a:t>Watch Rebekah's video: https://generated-video.example.com/rebekah_video.mp4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Crouton *Adoption Pending*'s Story</a:t>
            </a:r>
          </a:p>
        </p:txBody>
      </p:sp>
      <p:sp>
        <p:nvSpPr>
          <p:cNvPr id="3" name="Content Placeholder 2"/>
          <p:cNvSpPr>
            <a:spLocks noGrp="1"/>
          </p:cNvSpPr>
          <p:nvPr>
            <p:ph idx="1"/>
          </p:nvPr>
        </p:nvSpPr>
        <p:spPr/>
        <p:txBody>
          <a:bodyPr/>
          <a:lstStyle/>
          <a:p>
            <a:r>
              <a:t>Crouton *Adoption Pending* is an amazing dog looking for a loving home!</a:t>
            </a:r>
          </a:p>
        </p:txBody>
      </p:sp>
      <p:pic>
        <p:nvPicPr>
          <p:cNvPr id="4" name="Picture 3" descr="tmpujx12jx8.jpg"/>
          <p:cNvPicPr>
            <a:picLocks noChangeAspect="1"/>
          </p:cNvPicPr>
          <p:nvPr/>
        </p:nvPicPr>
        <p:blipFill>
          <a:blip r:embed="rId2"/>
          <a:stretch>
            <a:fillRect/>
          </a:stretch>
        </p:blipFill>
        <p:spPr>
          <a:xfrm>
            <a:off x="914400" y="1828800"/>
            <a:ext cx="2286000" cy="2286000"/>
          </a:xfrm>
          <a:prstGeom prst="rect">
            <a:avLst/>
          </a:prstGeom>
        </p:spPr>
      </p:pic>
      <p:sp>
        <p:nvSpPr>
          <p:cNvPr id="5" name="TextBox 4"/>
          <p:cNvSpPr txBox="1"/>
          <p:nvPr/>
        </p:nvSpPr>
        <p:spPr>
          <a:xfrm>
            <a:off x="3657600" y="1828800"/>
            <a:ext cx="2286000" cy="914400"/>
          </a:xfrm>
          <a:prstGeom prst="rect">
            <a:avLst/>
          </a:prstGeom>
          <a:noFill/>
        </p:spPr>
        <p:txBody>
          <a:bodyPr wrap="none">
            <a:spAutoFit/>
          </a:bodyPr>
          <a:lstStyle/>
          <a:p/>
          <a:p>
            <a:r>
              <a:t>Story Illustration</a:t>
            </a:r>
            <a:br/>
            <a:r>
              <a:t>(GPT-Image-1)</a:t>
            </a:r>
          </a:p>
        </p:txBody>
      </p:sp>
      <p:sp>
        <p:nvSpPr>
          <p:cNvPr id="6" name="TextBox 5"/>
          <p:cNvSpPr txBox="1"/>
          <p:nvPr/>
        </p:nvSpPr>
        <p:spPr>
          <a:xfrm>
            <a:off x="6400800" y="1828800"/>
            <a:ext cx="1371600" cy="914400"/>
          </a:xfrm>
          <a:prstGeom prst="rect">
            <a:avLst/>
          </a:prstGeom>
          <a:noFill/>
        </p:spPr>
        <p:txBody>
          <a:bodyPr wrap="none">
            <a:spAutoFit/>
          </a:bodyPr>
          <a:lstStyle/>
          <a:p/>
          <a:p>
            <a:r>
              <a:t>Badge</a:t>
            </a:r>
            <a:br/>
            <a:r>
              <a:t>(Generated)</a:t>
            </a:r>
          </a:p>
        </p:txBody>
      </p:sp>
      <p:sp>
        <p:nvSpPr>
          <p:cNvPr id="7" name="TextBox 6"/>
          <p:cNvSpPr txBox="1"/>
          <p:nvPr/>
        </p:nvSpPr>
        <p:spPr>
          <a:xfrm>
            <a:off x="914400" y="5029200"/>
            <a:ext cx="7315200" cy="914400"/>
          </a:xfrm>
          <a:prstGeom prst="rect">
            <a:avLst/>
          </a:prstGeom>
          <a:noFill/>
        </p:spPr>
        <p:txBody>
          <a:bodyPr wrap="none">
            <a:spAutoFit/>
          </a:bodyPr>
          <a:lstStyle/>
          <a:p/>
          <a:p>
            <a:r>
              <a:rPr>
                <a:hlinkClick r:id="rId3"/>
              </a:rPr>
              <a:t>Watch Crouton *Adoption Pending*'s video: https://generated-video.example.com/crouton *adoption pending*_video.mp4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